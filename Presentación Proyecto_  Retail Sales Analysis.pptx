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Average"/>
      <p:regular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jP1Yg94PtxlBpxh3r1U5JOz88M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6DEB12-85F9-4896-A3F3-FD935C2AD837}">
  <a:tblStyle styleId="{DB6DEB12-85F9-4896-A3F3-FD935C2AD83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verage-regular.fntdata"/><Relationship Id="rId11" Type="http://schemas.openxmlformats.org/officeDocument/2006/relationships/slide" Target="slides/slide5.xml"/><Relationship Id="rId22" Type="http://schemas.openxmlformats.org/officeDocument/2006/relationships/font" Target="fonts/Oswald-bold.fntdata"/><Relationship Id="rId10" Type="http://schemas.openxmlformats.org/officeDocument/2006/relationships/slide" Target="slides/slide4.xml"/><Relationship Id="rId21" Type="http://schemas.openxmlformats.org/officeDocument/2006/relationships/font" Target="fonts/Oswald-regular.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26a2c09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26a2c09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26a2c091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26a2c091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26a2c091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26a2c091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4"/>
          <p:cNvGrpSpPr/>
          <p:nvPr/>
        </p:nvGrpSpPr>
        <p:grpSpPr>
          <a:xfrm>
            <a:off x="4350279" y="2855377"/>
            <a:ext cx="443589" cy="105632"/>
            <a:chOff x="4137525" y="2915950"/>
            <a:chExt cx="869100" cy="207000"/>
          </a:xfrm>
        </p:grpSpPr>
        <p:sp>
          <p:nvSpPr>
            <p:cNvPr id="11" name="Google Shape;11;p2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4"/>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 name="Google Shape;15;p24"/>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5"/>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 name="Google Shape;22;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2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2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30"/>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8" name="Google Shape;38;p3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31"/>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3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31"/>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31"/>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3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5" name="Google Shape;45;p3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3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33"/>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33"/>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3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3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Average"/>
              <a:buChar char="●"/>
              <a:defRPr b="0" i="0" sz="1800" u="none" cap="none" strike="noStrike">
                <a:solidFill>
                  <a:schemeClr val="accent3"/>
                </a:solidFill>
                <a:latin typeface="Average"/>
                <a:ea typeface="Average"/>
                <a:cs typeface="Average"/>
                <a:sym typeface="Average"/>
              </a:defRPr>
            </a:lvl1pPr>
            <a:lvl2pPr indent="-317500" lvl="1" marL="914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2pPr>
            <a:lvl3pPr indent="-317500" lvl="2" marL="1371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3pPr>
            <a:lvl4pPr indent="-317500" lvl="3" marL="1828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4pPr>
            <a:lvl5pPr indent="-317500" lvl="4" marL="22860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5pPr>
            <a:lvl6pPr indent="-317500" lvl="5" marL="27432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6pPr>
            <a:lvl7pPr indent="-317500" lvl="6" marL="3200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7pPr>
            <a:lvl8pPr indent="-317500" lvl="7" marL="3657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8pPr>
            <a:lvl9pPr indent="-317500" lvl="8" marL="4114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9pPr>
          </a:lstStyle>
          <a:p/>
        </p:txBody>
      </p:sp>
      <p:sp>
        <p:nvSpPr>
          <p:cNvPr id="8" name="Google Shape;8;p2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pl-ai-file-upload.s3.amazonaws.com/web/direct-files/attachments/162678117/ac796dd3-f284-43cb-9aef-872510ae8e55/Core_14_Proyecto_I_-_Parte_V.ipynb" TargetMode="External"/><Relationship Id="rId4" Type="http://schemas.openxmlformats.org/officeDocument/2006/relationships/hyperlink" Target="https://ppl-ai-file-upload.s3.amazonaws.com/web/direct-files/attachments/162678117/0552d76b-a9c3-46f5-8e3d-3f6926108e2f/Presentacion-Proyecto_-Retail-Sales-Analysis.pptx" TargetMode="External"/><Relationship Id="rId5" Type="http://schemas.openxmlformats.org/officeDocument/2006/relationships/hyperlink" Target="https://ppl-ai-file-upload.s3.amazonaws.com/web/direct-files/attachments/162678117/0552d76b-a9c3-46f5-8e3d-3f6926108e2f/Presentacion-Proyecto_-Retail-Sales-Analysis.pptx" TargetMode="External"/><Relationship Id="rId6" Type="http://schemas.openxmlformats.org/officeDocument/2006/relationships/hyperlink" Target="https://ppl-ai-file-upload.s3.amazonaws.com/web/direct-files/attachments/162678117/0552d76b-a9c3-46f5-8e3d-3f6926108e2f/Presentacion-Proyecto_-Retail-Sales-Analysis.pptx"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671258" y="841650"/>
            <a:ext cx="7801500" cy="17301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800"/>
              <a:buNone/>
            </a:pPr>
            <a:r>
              <a:rPr lang="es" sz="4300"/>
              <a:t>Presentación Proyecto:</a:t>
            </a:r>
            <a:endParaRPr sz="4300"/>
          </a:p>
          <a:p>
            <a:pPr indent="0" lvl="0" marL="0" rtl="0" algn="ctr">
              <a:lnSpc>
                <a:spcPct val="100000"/>
              </a:lnSpc>
              <a:spcBef>
                <a:spcPts val="0"/>
              </a:spcBef>
              <a:spcAft>
                <a:spcPts val="0"/>
              </a:spcAft>
              <a:buSzPts val="4800"/>
              <a:buNone/>
            </a:pPr>
            <a:r>
              <a:rPr lang="es" sz="4300"/>
              <a:t> Retail Sales Analysis </a:t>
            </a:r>
            <a:endParaRPr sz="4300"/>
          </a:p>
        </p:txBody>
      </p:sp>
      <p:sp>
        <p:nvSpPr>
          <p:cNvPr id="60" name="Google Shape;60;p1"/>
          <p:cNvSpPr txBox="1"/>
          <p:nvPr>
            <p:ph idx="1" type="subTitle"/>
          </p:nvPr>
        </p:nvSpPr>
        <p:spPr>
          <a:xfrm>
            <a:off x="671250" y="3177075"/>
            <a:ext cx="7801500" cy="461700"/>
          </a:xfrm>
          <a:prstGeom prst="rect">
            <a:avLst/>
          </a:prstGeom>
          <a:noFill/>
          <a:ln>
            <a:noFill/>
          </a:ln>
        </p:spPr>
        <p:txBody>
          <a:bodyPr anchorCtr="0" anchor="t" bIns="91425" lIns="91425" spcFirstLastPara="1" rIns="91425" wrap="square" tIns="91425">
            <a:normAutofit lnSpcReduction="20000"/>
          </a:bodyPr>
          <a:lstStyle/>
          <a:p>
            <a:pPr indent="0" lvl="0" marL="0" rtl="0" algn="ctr">
              <a:lnSpc>
                <a:spcPct val="100000"/>
              </a:lnSpc>
              <a:spcBef>
                <a:spcPts val="0"/>
              </a:spcBef>
              <a:spcAft>
                <a:spcPts val="0"/>
              </a:spcAft>
              <a:buSzPts val="2100"/>
              <a:buNone/>
            </a:pPr>
            <a:r>
              <a:rPr lang="es"/>
              <a:t>Análisis y Predicción de Ventas en una Tienda de Retail </a:t>
            </a:r>
            <a:endParaRPr/>
          </a:p>
        </p:txBody>
      </p:sp>
      <p:sp>
        <p:nvSpPr>
          <p:cNvPr id="61" name="Google Shape;61;p1"/>
          <p:cNvSpPr txBox="1"/>
          <p:nvPr/>
        </p:nvSpPr>
        <p:spPr>
          <a:xfrm>
            <a:off x="93950" y="102700"/>
            <a:ext cx="6350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1" lang="es" sz="1500" u="none" cap="none" strike="noStrike">
                <a:solidFill>
                  <a:schemeClr val="accent3"/>
                </a:solidFill>
                <a:latin typeface="Average"/>
                <a:ea typeface="Average"/>
                <a:cs typeface="Average"/>
                <a:sym typeface="Average"/>
              </a:rPr>
              <a:t>Bootcamp Data Science &amp; Machine Learning </a:t>
            </a:r>
            <a:endParaRPr b="0" i="1" sz="1500" u="none" cap="none" strike="noStrike">
              <a:solidFill>
                <a:schemeClr val="accent3"/>
              </a:solidFill>
              <a:latin typeface="Average"/>
              <a:ea typeface="Average"/>
              <a:cs typeface="Average"/>
              <a:sym typeface="Average"/>
            </a:endParaRPr>
          </a:p>
        </p:txBody>
      </p:sp>
      <p:sp>
        <p:nvSpPr>
          <p:cNvPr id="62" name="Google Shape;62;p1"/>
          <p:cNvSpPr txBox="1"/>
          <p:nvPr/>
        </p:nvSpPr>
        <p:spPr>
          <a:xfrm>
            <a:off x="3157375" y="3873625"/>
            <a:ext cx="2528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accent3"/>
                </a:solidFill>
                <a:latin typeface="Average"/>
                <a:ea typeface="Average"/>
                <a:cs typeface="Average"/>
                <a:sym typeface="Average"/>
              </a:rPr>
              <a:t>Diego Poblete Arriagada </a:t>
            </a:r>
            <a:endParaRPr b="0" i="0" sz="1800" u="none" cap="none" strike="noStrike">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234675" y="337650"/>
            <a:ext cx="7852200" cy="861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s" sz="3000">
                <a:solidFill>
                  <a:srgbClr val="D6D5D4"/>
                </a:solidFill>
              </a:rPr>
              <a:t>Objeto del encargo: análisis de ventas</a:t>
            </a:r>
            <a:endParaRPr sz="6600"/>
          </a:p>
        </p:txBody>
      </p:sp>
      <p:sp>
        <p:nvSpPr>
          <p:cNvPr id="68" name="Google Shape;68;p2"/>
          <p:cNvSpPr txBox="1"/>
          <p:nvPr>
            <p:ph idx="4294967295" type="subTitle"/>
          </p:nvPr>
        </p:nvSpPr>
        <p:spPr>
          <a:xfrm>
            <a:off x="759500" y="1268400"/>
            <a:ext cx="7801500" cy="861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accent3"/>
              </a:buClr>
              <a:buSzPts val="1800"/>
              <a:buFont typeface="Average"/>
              <a:buNone/>
            </a:pPr>
            <a:r>
              <a:rPr i="0" lang="es" sz="1300" u="none" cap="none" strike="noStrike">
                <a:solidFill>
                  <a:srgbClr val="D6D5D4"/>
                </a:solidFill>
              </a:rPr>
              <a:t>Analizar el comportamiento de las ventas de una tienda de retail a partir de un dataset transaccional, con el fin de identificar patrones, relaciones entre variables y oportunidades de mejora para la toma de decisiones comerciales. El análisis se centró en variables como Total Amount, Price per Unit, Quantity y Mes</a:t>
            </a:r>
            <a:r>
              <a:rPr lang="es" sz="1300">
                <a:solidFill>
                  <a:srgbClr val="000000"/>
                </a:solidFill>
              </a:rPr>
              <a:t>..</a:t>
            </a:r>
            <a:endParaRPr i="0" sz="1300" u="none" cap="none" strike="noStrike">
              <a:solidFill>
                <a:srgbClr val="D6D5D4"/>
              </a:solidFill>
            </a:endParaRPr>
          </a:p>
        </p:txBody>
      </p:sp>
      <p:sp>
        <p:nvSpPr>
          <p:cNvPr id="69" name="Google Shape;69;p2"/>
          <p:cNvSpPr txBox="1"/>
          <p:nvPr/>
        </p:nvSpPr>
        <p:spPr>
          <a:xfrm>
            <a:off x="759500" y="2502000"/>
            <a:ext cx="71796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500"/>
              <a:buFont typeface="Arial"/>
              <a:buNone/>
            </a:pPr>
            <a:r>
              <a:rPr b="1" i="0" lang="es" sz="1500" u="none" cap="none" strike="noStrike">
                <a:solidFill>
                  <a:schemeClr val="dk1"/>
                </a:solidFill>
                <a:latin typeface="Oswald"/>
                <a:ea typeface="Oswald"/>
                <a:cs typeface="Oswald"/>
                <a:sym typeface="Oswald"/>
              </a:rPr>
              <a:t>Objetivos específicos</a:t>
            </a:r>
            <a:endParaRPr b="1" i="0" sz="1500" u="none" cap="none" strike="noStrike">
              <a:solidFill>
                <a:schemeClr val="dk1"/>
              </a:solidFill>
              <a:latin typeface="Oswald"/>
              <a:ea typeface="Oswald"/>
              <a:cs typeface="Oswald"/>
              <a:sym typeface="Oswald"/>
            </a:endParaRPr>
          </a:p>
          <a:p>
            <a:pPr indent="-323850" lvl="0" marL="457200" marR="0" rtl="0" algn="l">
              <a:lnSpc>
                <a:spcPct val="115000"/>
              </a:lnSpc>
              <a:spcBef>
                <a:spcPts val="1200"/>
              </a:spcBef>
              <a:spcAft>
                <a:spcPts val="0"/>
              </a:spcAft>
              <a:buClr>
                <a:schemeClr val="dk1"/>
              </a:buClr>
              <a:buSzPts val="1500"/>
              <a:buFont typeface="Average"/>
              <a:buChar char="●"/>
            </a:pPr>
            <a:r>
              <a:rPr b="0" i="0" lang="es" sz="1500" u="none" cap="none" strike="noStrike">
                <a:solidFill>
                  <a:schemeClr val="dk1"/>
                </a:solidFill>
                <a:latin typeface="Average"/>
                <a:ea typeface="Average"/>
                <a:cs typeface="Average"/>
                <a:sym typeface="Average"/>
              </a:rPr>
              <a:t>Explorar la estructura y calidad del dataset.</a:t>
            </a:r>
            <a:endParaRPr b="0" i="0" sz="1500" u="none" cap="none" strike="noStrike">
              <a:solidFill>
                <a:schemeClr val="dk1"/>
              </a:solidFill>
              <a:latin typeface="Average"/>
              <a:ea typeface="Average"/>
              <a:cs typeface="Average"/>
              <a:sym typeface="Average"/>
            </a:endParaRPr>
          </a:p>
          <a:p>
            <a:pPr indent="-323850" lvl="0" marL="457200" marR="0" rtl="0" algn="l">
              <a:lnSpc>
                <a:spcPct val="115000"/>
              </a:lnSpc>
              <a:spcBef>
                <a:spcPts val="0"/>
              </a:spcBef>
              <a:spcAft>
                <a:spcPts val="0"/>
              </a:spcAft>
              <a:buClr>
                <a:schemeClr val="dk1"/>
              </a:buClr>
              <a:buSzPts val="1500"/>
              <a:buFont typeface="Average"/>
              <a:buChar char="●"/>
            </a:pPr>
            <a:r>
              <a:rPr b="0" i="0" lang="es" sz="1500" u="none" cap="none" strike="noStrike">
                <a:solidFill>
                  <a:schemeClr val="dk1"/>
                </a:solidFill>
                <a:latin typeface="Average"/>
                <a:ea typeface="Average"/>
                <a:cs typeface="Average"/>
                <a:sym typeface="Average"/>
              </a:rPr>
              <a:t>Identificar patrones y tendencias de ventas.</a:t>
            </a:r>
            <a:endParaRPr b="0" i="0" sz="1500" u="none" cap="none" strike="noStrike">
              <a:solidFill>
                <a:schemeClr val="dk1"/>
              </a:solidFill>
              <a:latin typeface="Average"/>
              <a:ea typeface="Average"/>
              <a:cs typeface="Average"/>
              <a:sym typeface="Average"/>
            </a:endParaRPr>
          </a:p>
          <a:p>
            <a:pPr indent="-323850" lvl="0" marL="457200" marR="0" rtl="0" algn="l">
              <a:lnSpc>
                <a:spcPct val="115000"/>
              </a:lnSpc>
              <a:spcBef>
                <a:spcPts val="0"/>
              </a:spcBef>
              <a:spcAft>
                <a:spcPts val="0"/>
              </a:spcAft>
              <a:buClr>
                <a:schemeClr val="dk1"/>
              </a:buClr>
              <a:buSzPts val="1500"/>
              <a:buFont typeface="Average"/>
              <a:buChar char="●"/>
            </a:pPr>
            <a:r>
              <a:rPr b="0" i="0" lang="es" sz="1500" u="none" cap="none" strike="noStrike">
                <a:solidFill>
                  <a:schemeClr val="dk1"/>
                </a:solidFill>
                <a:latin typeface="Average"/>
                <a:ea typeface="Average"/>
                <a:cs typeface="Average"/>
                <a:sym typeface="Average"/>
              </a:rPr>
              <a:t>Analizar relaciones entre variables numéricas.</a:t>
            </a:r>
            <a:endParaRPr b="0" i="0" sz="1500" u="none" cap="none" strike="noStrike">
              <a:solidFill>
                <a:schemeClr val="dk1"/>
              </a:solidFill>
              <a:latin typeface="Average"/>
              <a:ea typeface="Average"/>
              <a:cs typeface="Average"/>
              <a:sym typeface="Average"/>
            </a:endParaRPr>
          </a:p>
          <a:p>
            <a:pPr indent="-323850" lvl="0" marL="457200" marR="0" rtl="0" algn="l">
              <a:lnSpc>
                <a:spcPct val="115000"/>
              </a:lnSpc>
              <a:spcBef>
                <a:spcPts val="0"/>
              </a:spcBef>
              <a:spcAft>
                <a:spcPts val="0"/>
              </a:spcAft>
              <a:buClr>
                <a:schemeClr val="dk1"/>
              </a:buClr>
              <a:buSzPts val="1500"/>
              <a:buFont typeface="Average"/>
              <a:buChar char="●"/>
            </a:pPr>
            <a:r>
              <a:rPr b="0" i="0" lang="es" sz="1500" u="none" cap="none" strike="noStrike">
                <a:solidFill>
                  <a:schemeClr val="dk1"/>
                </a:solidFill>
                <a:latin typeface="Average"/>
                <a:ea typeface="Average"/>
                <a:cs typeface="Average"/>
                <a:sym typeface="Average"/>
              </a:rPr>
              <a:t>Detectar valores atípicos y variabilidad en las ventas.</a:t>
            </a:r>
            <a:endParaRPr b="0" i="0" sz="1500" u="none" cap="none" strike="noStrike">
              <a:solidFill>
                <a:schemeClr val="dk1"/>
              </a:solidFill>
              <a:latin typeface="Average"/>
              <a:ea typeface="Average"/>
              <a:cs typeface="Average"/>
              <a:sym typeface="Average"/>
            </a:endParaRPr>
          </a:p>
          <a:p>
            <a:pPr indent="-323850" lvl="0" marL="457200" marR="0" rtl="0" algn="l">
              <a:lnSpc>
                <a:spcPct val="115000"/>
              </a:lnSpc>
              <a:spcBef>
                <a:spcPts val="0"/>
              </a:spcBef>
              <a:spcAft>
                <a:spcPts val="0"/>
              </a:spcAft>
              <a:buClr>
                <a:schemeClr val="dk1"/>
              </a:buClr>
              <a:buSzPts val="1500"/>
              <a:buFont typeface="Average"/>
              <a:buChar char="●"/>
            </a:pPr>
            <a:r>
              <a:rPr b="0" i="0" lang="es" sz="1500" u="none" cap="none" strike="noStrike">
                <a:solidFill>
                  <a:schemeClr val="dk1"/>
                </a:solidFill>
                <a:latin typeface="Average"/>
                <a:ea typeface="Average"/>
                <a:cs typeface="Average"/>
                <a:sym typeface="Average"/>
              </a:rPr>
              <a:t>Crear visualizaciones útiles para interpretación y apoyo en decisiones comerciales.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e26a2c091a_0_0"/>
          <p:cNvSpPr txBox="1"/>
          <p:nvPr/>
        </p:nvSpPr>
        <p:spPr>
          <a:xfrm>
            <a:off x="1094475" y="850175"/>
            <a:ext cx="6764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rgbClr val="D6D5D4"/>
                </a:solidFill>
                <a:latin typeface="Oswald"/>
                <a:ea typeface="Oswald"/>
                <a:cs typeface="Oswald"/>
                <a:sym typeface="Oswald"/>
              </a:rPr>
              <a:t>Descripción del conjunto de datos</a:t>
            </a:r>
            <a:r>
              <a:rPr lang="es" sz="1600">
                <a:latin typeface="Oswald"/>
                <a:ea typeface="Oswald"/>
                <a:cs typeface="Oswald"/>
                <a:sym typeface="Oswald"/>
              </a:rPr>
              <a:t> </a:t>
            </a:r>
            <a:endParaRPr sz="2300">
              <a:solidFill>
                <a:schemeClr val="accent3"/>
              </a:solidFill>
              <a:latin typeface="Oswald"/>
              <a:ea typeface="Oswald"/>
              <a:cs typeface="Oswald"/>
              <a:sym typeface="Oswald"/>
            </a:endParaRPr>
          </a:p>
        </p:txBody>
      </p:sp>
      <p:sp>
        <p:nvSpPr>
          <p:cNvPr id="75" name="Google Shape;75;g3e26a2c091a_0_0"/>
          <p:cNvSpPr txBox="1"/>
          <p:nvPr/>
        </p:nvSpPr>
        <p:spPr>
          <a:xfrm>
            <a:off x="1094475" y="1496075"/>
            <a:ext cx="6764100" cy="180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500">
                <a:solidFill>
                  <a:srgbClr val="D6D5D4"/>
                </a:solidFill>
                <a:latin typeface="Average"/>
                <a:ea typeface="Average"/>
                <a:cs typeface="Average"/>
                <a:sym typeface="Average"/>
              </a:rPr>
              <a:t>El dataset utilizado contiene información transaccional de una tienda de retail e incluye las columnas </a:t>
            </a:r>
            <a:r>
              <a:rPr lang="es" sz="1250">
                <a:solidFill>
                  <a:srgbClr val="D6D5D4"/>
                </a:solidFill>
                <a:latin typeface="Average"/>
                <a:ea typeface="Average"/>
                <a:cs typeface="Average"/>
                <a:sym typeface="Average"/>
              </a:rPr>
              <a:t>Transaction ID</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Date</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Customer ID</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Gender</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Age</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Product Category</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Quantity</a:t>
            </a:r>
            <a:r>
              <a:rPr lang="es" sz="1500">
                <a:solidFill>
                  <a:srgbClr val="D6D5D4"/>
                </a:solidFill>
                <a:latin typeface="Average"/>
                <a:ea typeface="Average"/>
                <a:cs typeface="Average"/>
                <a:sym typeface="Average"/>
              </a:rPr>
              <a:t>, </a:t>
            </a:r>
            <a:r>
              <a:rPr lang="es" sz="1250">
                <a:solidFill>
                  <a:srgbClr val="D6D5D4"/>
                </a:solidFill>
                <a:latin typeface="Average"/>
                <a:ea typeface="Average"/>
                <a:cs typeface="Average"/>
                <a:sym typeface="Average"/>
              </a:rPr>
              <a:t>Price per Unit</a:t>
            </a:r>
            <a:r>
              <a:rPr lang="es" sz="1500">
                <a:solidFill>
                  <a:srgbClr val="D6D5D4"/>
                </a:solidFill>
                <a:latin typeface="Average"/>
                <a:ea typeface="Average"/>
                <a:cs typeface="Average"/>
                <a:sym typeface="Average"/>
              </a:rPr>
              <a:t> y </a:t>
            </a:r>
            <a:r>
              <a:rPr lang="es" sz="1250">
                <a:solidFill>
                  <a:srgbClr val="D6D5D4"/>
                </a:solidFill>
                <a:latin typeface="Average"/>
                <a:ea typeface="Average"/>
                <a:cs typeface="Average"/>
                <a:sym typeface="Average"/>
              </a:rPr>
              <a:t>Total Amount</a:t>
            </a:r>
            <a:r>
              <a:rPr lang="es" sz="1500">
                <a:solidFill>
                  <a:srgbClr val="D6D5D4"/>
                </a:solidFill>
                <a:latin typeface="Average"/>
                <a:ea typeface="Average"/>
                <a:cs typeface="Average"/>
                <a:sym typeface="Average"/>
              </a:rPr>
              <a:t>. Aunque el conjunto de datos incluye la categoría de producto, en este análisis se priorizaron variables numéricas y temporales, ya que permitían estudiar con mayor claridad el comportamiento de las ventas, la variabilidad de precios, la relación entre cantidad y monto vendido, y los patrones mensuales del negocio.</a:t>
            </a:r>
            <a:r>
              <a:rPr lang="es">
                <a:latin typeface="Average"/>
                <a:ea typeface="Average"/>
                <a:cs typeface="Average"/>
                <a:sym typeface="Average"/>
              </a:rPr>
              <a:t> </a:t>
            </a:r>
            <a:endParaRPr sz="21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ph type="title"/>
          </p:nvPr>
        </p:nvSpPr>
        <p:spPr>
          <a:xfrm>
            <a:off x="-117400" y="661575"/>
            <a:ext cx="7852200" cy="8610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1200"/>
              </a:spcBef>
              <a:spcAft>
                <a:spcPts val="600"/>
              </a:spcAft>
              <a:buSzPts val="3600"/>
              <a:buNone/>
            </a:pPr>
            <a:r>
              <a:rPr b="1" lang="es" sz="2000">
                <a:solidFill>
                  <a:srgbClr val="D6D5D4"/>
                </a:solidFill>
              </a:rPr>
              <a:t>Metodología de presentación: enfoque de Doble Diamante</a:t>
            </a:r>
            <a:endParaRPr sz="4400"/>
          </a:p>
        </p:txBody>
      </p:sp>
      <p:sp>
        <p:nvSpPr>
          <p:cNvPr id="81" name="Google Shape;81;p3"/>
          <p:cNvSpPr txBox="1"/>
          <p:nvPr>
            <p:ph idx="4294967295" type="subTitle"/>
          </p:nvPr>
        </p:nvSpPr>
        <p:spPr>
          <a:xfrm>
            <a:off x="776950" y="1432700"/>
            <a:ext cx="7801500" cy="2559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accent3"/>
              </a:buClr>
              <a:buSzPts val="1800"/>
              <a:buFont typeface="Average"/>
              <a:buNone/>
            </a:pPr>
            <a:br>
              <a:rPr i="0" lang="es" sz="1200" u="none" cap="none" strike="noStrike">
                <a:solidFill>
                  <a:srgbClr val="D6D5D4"/>
                </a:solidFill>
                <a:latin typeface="Georgia"/>
                <a:ea typeface="Georgia"/>
                <a:cs typeface="Georgia"/>
                <a:sym typeface="Georgia"/>
              </a:rPr>
            </a:br>
            <a:r>
              <a:rPr i="0" lang="es" sz="1500" u="none" cap="none" strike="noStrike">
                <a:solidFill>
                  <a:srgbClr val="D6D5D4"/>
                </a:solidFill>
                <a:latin typeface="Georgia"/>
                <a:ea typeface="Georgia"/>
                <a:cs typeface="Georgia"/>
                <a:sym typeface="Georgia"/>
              </a:rPr>
              <a:t>La presentación del proyecto  se organizará siguiendo una lógica inspirada en el Doble Diamante, estructurando el trabajo en cuatro etapas:</a:t>
            </a:r>
            <a:endParaRPr i="0" sz="1500" u="none" cap="none" strike="noStrike">
              <a:solidFill>
                <a:srgbClr val="D6D5D4"/>
              </a:solidFill>
              <a:latin typeface="Georgia"/>
              <a:ea typeface="Georgia"/>
              <a:cs typeface="Georgia"/>
              <a:sym typeface="Georgia"/>
            </a:endParaRPr>
          </a:p>
          <a:p>
            <a:pPr indent="-323850" lvl="0" marL="457200" marR="0" rtl="0" algn="l">
              <a:lnSpc>
                <a:spcPct val="115000"/>
              </a:lnSpc>
              <a:spcBef>
                <a:spcPts val="1200"/>
              </a:spcBef>
              <a:spcAft>
                <a:spcPts val="0"/>
              </a:spcAft>
              <a:buClr>
                <a:srgbClr val="D6D5D4"/>
              </a:buClr>
              <a:buSzPts val="1500"/>
              <a:buFont typeface="Georgia"/>
              <a:buAutoNum type="arabicPeriod"/>
            </a:pPr>
            <a:r>
              <a:rPr b="0" i="0" lang="es" sz="1500" u="none" cap="none" strike="noStrike">
                <a:solidFill>
                  <a:srgbClr val="D6D5D4"/>
                </a:solidFill>
                <a:latin typeface="Georgia"/>
                <a:ea typeface="Georgia"/>
                <a:cs typeface="Georgia"/>
                <a:sym typeface="Georgia"/>
              </a:rPr>
              <a:t>descubrir el problema mediante la exploración de datos</a:t>
            </a:r>
            <a:endParaRPr b="0" i="0" sz="1500" u="none" cap="none" strike="noStrike">
              <a:solidFill>
                <a:srgbClr val="D6D5D4"/>
              </a:solidFill>
              <a:latin typeface="Georgia"/>
              <a:ea typeface="Georgia"/>
              <a:cs typeface="Georgia"/>
              <a:sym typeface="Georgia"/>
            </a:endParaRPr>
          </a:p>
          <a:p>
            <a:pPr indent="-323850" lvl="0" marL="457200" marR="0" rtl="0" algn="l">
              <a:lnSpc>
                <a:spcPct val="115000"/>
              </a:lnSpc>
              <a:spcBef>
                <a:spcPts val="0"/>
              </a:spcBef>
              <a:spcAft>
                <a:spcPts val="0"/>
              </a:spcAft>
              <a:buClr>
                <a:srgbClr val="D6D5D4"/>
              </a:buClr>
              <a:buSzPts val="1500"/>
              <a:buFont typeface="Georgia"/>
              <a:buAutoNum type="arabicPeriod"/>
            </a:pPr>
            <a:r>
              <a:rPr b="0" i="0" lang="es" sz="1500" u="none" cap="none" strike="noStrike">
                <a:solidFill>
                  <a:srgbClr val="D6D5D4"/>
                </a:solidFill>
                <a:latin typeface="Georgia"/>
                <a:ea typeface="Georgia"/>
                <a:cs typeface="Georgia"/>
                <a:sym typeface="Georgia"/>
              </a:rPr>
              <a:t>definir variables y preguntas clave,</a:t>
            </a:r>
            <a:endParaRPr b="0" i="0" sz="1500" u="none" cap="none" strike="noStrike">
              <a:solidFill>
                <a:srgbClr val="D6D5D4"/>
              </a:solidFill>
              <a:latin typeface="Georgia"/>
              <a:ea typeface="Georgia"/>
              <a:cs typeface="Georgia"/>
              <a:sym typeface="Georgia"/>
            </a:endParaRPr>
          </a:p>
          <a:p>
            <a:pPr indent="-323850" lvl="0" marL="457200" marR="0" rtl="0" algn="l">
              <a:lnSpc>
                <a:spcPct val="115000"/>
              </a:lnSpc>
              <a:spcBef>
                <a:spcPts val="0"/>
              </a:spcBef>
              <a:spcAft>
                <a:spcPts val="0"/>
              </a:spcAft>
              <a:buClr>
                <a:srgbClr val="D6D5D4"/>
              </a:buClr>
              <a:buSzPts val="1500"/>
              <a:buFont typeface="Georgia"/>
              <a:buAutoNum type="arabicPeriod"/>
            </a:pPr>
            <a:r>
              <a:rPr b="0" i="0" lang="es" sz="1500" u="none" cap="none" strike="noStrike">
                <a:solidFill>
                  <a:srgbClr val="D6D5D4"/>
                </a:solidFill>
                <a:latin typeface="Georgia"/>
                <a:ea typeface="Georgia"/>
                <a:cs typeface="Georgia"/>
                <a:sym typeface="Georgia"/>
              </a:rPr>
              <a:t> desarrollar el análisis y las visualizaciones,</a:t>
            </a:r>
            <a:endParaRPr b="0" i="0" sz="1500" u="none" cap="none" strike="noStrike">
              <a:solidFill>
                <a:srgbClr val="D6D5D4"/>
              </a:solidFill>
              <a:latin typeface="Georgia"/>
              <a:ea typeface="Georgia"/>
              <a:cs typeface="Georgia"/>
              <a:sym typeface="Georgia"/>
            </a:endParaRPr>
          </a:p>
          <a:p>
            <a:pPr indent="-323850" lvl="0" marL="457200" marR="0" rtl="0" algn="l">
              <a:lnSpc>
                <a:spcPct val="115000"/>
              </a:lnSpc>
              <a:spcBef>
                <a:spcPts val="0"/>
              </a:spcBef>
              <a:spcAft>
                <a:spcPts val="0"/>
              </a:spcAft>
              <a:buClr>
                <a:srgbClr val="D6D5D4"/>
              </a:buClr>
              <a:buSzPts val="1500"/>
              <a:buFont typeface="Georgia"/>
              <a:buAutoNum type="arabicPeriod"/>
            </a:pPr>
            <a:r>
              <a:rPr b="0" i="0" lang="es" sz="1500" u="none" cap="none" strike="noStrike">
                <a:solidFill>
                  <a:srgbClr val="D6D5D4"/>
                </a:solidFill>
                <a:latin typeface="Georgia"/>
                <a:ea typeface="Georgia"/>
                <a:cs typeface="Georgia"/>
                <a:sym typeface="Georgia"/>
              </a:rPr>
              <a:t> entregar hallazgos y recomendaciones orientadas al negocio.</a:t>
            </a:r>
            <a:endParaRPr b="0" i="0" sz="1500" u="none" cap="none" strike="noStrike">
              <a:solidFill>
                <a:srgbClr val="D6D5D4"/>
              </a:solidFill>
              <a:latin typeface="Georgia"/>
              <a:ea typeface="Georgia"/>
              <a:cs typeface="Georgia"/>
              <a:sym typeface="Georgia"/>
            </a:endParaRPr>
          </a:p>
          <a:p>
            <a:pPr indent="0" lvl="0" marL="457200" marR="0" rtl="0" algn="l">
              <a:lnSpc>
                <a:spcPct val="115000"/>
              </a:lnSpc>
              <a:spcBef>
                <a:spcPts val="600"/>
              </a:spcBef>
              <a:spcAft>
                <a:spcPts val="1200"/>
              </a:spcAft>
              <a:buClr>
                <a:schemeClr val="accent3"/>
              </a:buClr>
              <a:buSzPts val="1800"/>
              <a:buFont typeface="Average"/>
              <a:buNone/>
            </a:pPr>
            <a:r>
              <a:t/>
            </a:r>
            <a:endParaRPr b="0" i="0" sz="1500" u="none" cap="none" strike="noStrike">
              <a:solidFill>
                <a:srgbClr val="D6D5D4"/>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graphicFrame>
        <p:nvGraphicFramePr>
          <p:cNvPr id="86" name="Google Shape;86;p4"/>
          <p:cNvGraphicFramePr/>
          <p:nvPr/>
        </p:nvGraphicFramePr>
        <p:xfrm>
          <a:off x="805250" y="239413"/>
          <a:ext cx="3000000" cy="3000000"/>
        </p:xfrm>
        <a:graphic>
          <a:graphicData uri="http://schemas.openxmlformats.org/drawingml/2006/table">
            <a:tbl>
              <a:tblPr>
                <a:noFill/>
                <a:tableStyleId>{DB6DEB12-85F9-4896-A3F3-FD935C2AD837}</a:tableStyleId>
              </a:tblPr>
              <a:tblGrid>
                <a:gridCol w="1115500"/>
                <a:gridCol w="1876350"/>
                <a:gridCol w="2020500"/>
                <a:gridCol w="2885150"/>
              </a:tblGrid>
              <a:tr h="353300">
                <a:tc>
                  <a:txBody>
                    <a:bodyPr/>
                    <a:lstStyle/>
                    <a:p>
                      <a:pPr indent="0" lvl="0" marL="0" marR="0" rtl="0" algn="ctr">
                        <a:lnSpc>
                          <a:spcPct val="115000"/>
                        </a:lnSpc>
                        <a:spcBef>
                          <a:spcPts val="0"/>
                        </a:spcBef>
                        <a:spcAft>
                          <a:spcPts val="0"/>
                        </a:spcAft>
                        <a:buClr>
                          <a:srgbClr val="000000"/>
                        </a:buClr>
                        <a:buSzPts val="1000"/>
                        <a:buFont typeface="Arial"/>
                        <a:buNone/>
                      </a:pPr>
                      <a:r>
                        <a:rPr b="1" lang="es" sz="1000" u="none" cap="none" strike="noStrike">
                          <a:latin typeface="Average"/>
                          <a:ea typeface="Average"/>
                          <a:cs typeface="Average"/>
                          <a:sym typeface="Average"/>
                        </a:rPr>
                        <a:t>Etapa</a:t>
                      </a:r>
                      <a:endParaRPr b="1" sz="1000" u="none" cap="none" strike="noStrike">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 sz="1000" u="none" cap="none" strike="noStrike">
                          <a:latin typeface="Average"/>
                          <a:ea typeface="Average"/>
                          <a:cs typeface="Average"/>
                          <a:sym typeface="Average"/>
                        </a:rPr>
                        <a:t>Qué se realizó</a:t>
                      </a:r>
                      <a:endParaRPr b="1" sz="1000" u="none" cap="none" strike="noStrike">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 sz="1000" u="none" cap="none" strike="noStrike">
                          <a:latin typeface="Average"/>
                          <a:ea typeface="Average"/>
                          <a:cs typeface="Average"/>
                          <a:sym typeface="Average"/>
                        </a:rPr>
                        <a:t>Síntesis</a:t>
                      </a:r>
                      <a:endParaRPr b="1" sz="1000" u="none" cap="none" strike="noStrike">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 sz="1000" u="none" cap="none" strike="noStrike">
                          <a:latin typeface="Average"/>
                          <a:ea typeface="Average"/>
                          <a:cs typeface="Average"/>
                          <a:sym typeface="Average"/>
                        </a:rPr>
                        <a:t>Hallazgos</a:t>
                      </a:r>
                      <a:endParaRPr b="1" sz="1000" u="none" cap="none" strike="noStrike">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2F2"/>
                    </a:solidFill>
                  </a:tcPr>
                </a:tc>
              </a:tr>
              <a:tr h="7273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1"/>
                          </a:solidFill>
                          <a:latin typeface="Average"/>
                          <a:ea typeface="Average"/>
                          <a:cs typeface="Average"/>
                          <a:sym typeface="Average"/>
                        </a:rPr>
                        <a:t>Descubrimiento</a:t>
                      </a:r>
                      <a:endParaRPr sz="1100" u="none" cap="none" strike="noStrike">
                        <a:solidFill>
                          <a:schemeClr val="dk1"/>
                        </a:solidFill>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Exploración inicial del dataset.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read_csv(), head(), info().</a:t>
                      </a:r>
                      <a:r>
                        <a:rPr lang="es" sz="1200" u="none" cap="none" strike="noStrike">
                          <a:solidFill>
                            <a:schemeClr val="dk1"/>
                          </a:solidFill>
                          <a:uFill>
                            <a:noFill/>
                          </a:uFill>
                          <a:latin typeface="Average"/>
                          <a:ea typeface="Average"/>
                          <a:cs typeface="Average"/>
                          <a:sym typeface="Average"/>
                          <a:hlinkClick r:id="rId3">
                            <a:extLst>
                              <a:ext uri="{A12FA001-AC4F-418D-AE19-62706E023703}">
                                <ahyp:hlinkClr val="tx"/>
                              </a:ext>
                            </a:extLst>
                          </a:hlinkClick>
                        </a:rPr>
                        <a:t> </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Se identificaron variables clave como Total Amount, Price per Unit, Quantity, Age y Date, que permitieron orientar el análisis posterior.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1440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1"/>
                          </a:solidFill>
                          <a:latin typeface="Average"/>
                          <a:ea typeface="Average"/>
                          <a:cs typeface="Average"/>
                          <a:sym typeface="Average"/>
                        </a:rPr>
                        <a:t>Definición</a:t>
                      </a:r>
                      <a:endParaRPr sz="1100" u="none" cap="none" strike="noStrike">
                        <a:solidFill>
                          <a:schemeClr val="dk1"/>
                        </a:solidFill>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Formulación de preguntas y enfoque analítico.</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Selección de variables, análisis descriptivo y foco en Total Amount, Price per Unit, Quantity, Age y Mes.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Se definió un foco analítico centrado en comportamiento de ventas, precios, relaciones entre variables y tendencias temporales.</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1665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1"/>
                          </a:solidFill>
                          <a:latin typeface="Average"/>
                          <a:ea typeface="Average"/>
                          <a:cs typeface="Average"/>
                          <a:sym typeface="Average"/>
                        </a:rPr>
                        <a:t>Desarrollo</a:t>
                      </a:r>
                      <a:endParaRPr sz="1100" u="none" cap="none" strike="noStrike">
                        <a:solidFill>
                          <a:schemeClr val="dk1"/>
                        </a:solidFill>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Aplicación de EDA y construcción de visualizaciones.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groupby(), apply(), creación de Ingreso_Total, Ventas_normalizadas, Desviacion_Respecto_Media, histogramas, boxplots, scatterplots, lineplots, heatmap y subplots.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Se detectó concentración de ventas en montos bajos, alta variabilidad en precios, relación entre cantidad y monto total, y patrones temporales por mes. </a:t>
                      </a:r>
                      <a:endParaRPr sz="1200" u="none"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1014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1"/>
                          </a:solidFill>
                          <a:latin typeface="Average"/>
                          <a:ea typeface="Average"/>
                          <a:cs typeface="Average"/>
                          <a:sym typeface="Average"/>
                        </a:rPr>
                        <a:t>Entrega</a:t>
                      </a:r>
                      <a:endParaRPr sz="1100" u="none" cap="none" strike="noStrike">
                        <a:solidFill>
                          <a:schemeClr val="dk1"/>
                        </a:solidFill>
                        <a:latin typeface="Average"/>
                        <a:ea typeface="Average"/>
                        <a:cs typeface="Average"/>
                        <a:sym typeface="Average"/>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Elaboración de conclusiones y recomendaciones.</a:t>
                      </a:r>
                      <a:r>
                        <a:rPr lang="es" sz="1200" u="none" cap="none" strike="noStrike">
                          <a:solidFill>
                            <a:schemeClr val="dk1"/>
                          </a:solidFill>
                          <a:uFill>
                            <a:noFill/>
                          </a:uFill>
                          <a:latin typeface="Average"/>
                          <a:ea typeface="Average"/>
                          <a:cs typeface="Average"/>
                          <a:sym typeface="Average"/>
                          <a:hlinkClick r:id="rId4">
                            <a:extLst>
                              <a:ext uri="{A12FA001-AC4F-418D-AE19-62706E023703}">
                                <ahyp:hlinkClr val="tx"/>
                              </a:ext>
                            </a:extLst>
                          </a:hlinkClick>
                        </a:rPr>
                        <a:t> </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Interpretación visual y síntesis de resultados.</a:t>
                      </a:r>
                      <a:r>
                        <a:rPr lang="es" sz="1200" u="none" cap="none" strike="noStrike">
                          <a:solidFill>
                            <a:schemeClr val="dk1"/>
                          </a:solidFill>
                          <a:uFill>
                            <a:noFill/>
                          </a:uFill>
                          <a:latin typeface="Average"/>
                          <a:ea typeface="Average"/>
                          <a:cs typeface="Average"/>
                          <a:sym typeface="Average"/>
                          <a:hlinkClick r:id="rId5">
                            <a:extLst>
                              <a:ext uri="{A12FA001-AC4F-418D-AE19-62706E023703}">
                                <ahyp:hlinkClr val="tx"/>
                              </a:ext>
                            </a:extLst>
                          </a:hlinkClick>
                        </a:rPr>
                        <a:t> </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solidFill>
                            <a:schemeClr val="dk1"/>
                          </a:solidFill>
                          <a:latin typeface="Average"/>
                          <a:ea typeface="Average"/>
                          <a:cs typeface="Average"/>
                          <a:sym typeface="Average"/>
                        </a:rPr>
                        <a:t>Se concluyó que el precio unitario influye fuertemente en el monto total y que existen oportunidades para mejorar promociones, planificación de inventario y estrategias comerciales.</a:t>
                      </a:r>
                      <a:r>
                        <a:rPr lang="es" sz="1200" u="none" cap="none" strike="noStrike">
                          <a:solidFill>
                            <a:schemeClr val="dk1"/>
                          </a:solidFill>
                          <a:uFill>
                            <a:noFill/>
                          </a:uFill>
                          <a:latin typeface="Average"/>
                          <a:ea typeface="Average"/>
                          <a:cs typeface="Average"/>
                          <a:sym typeface="Average"/>
                          <a:hlinkClick r:id="rId6">
                            <a:extLst>
                              <a:ext uri="{A12FA001-AC4F-418D-AE19-62706E023703}">
                                <ahyp:hlinkClr val="tx"/>
                              </a:ext>
                            </a:extLst>
                          </a:hlinkClick>
                        </a:rPr>
                        <a:t> </a:t>
                      </a:r>
                      <a:endParaRPr sz="1200" u="sng" cap="none" strike="noStrike">
                        <a:solidFill>
                          <a:schemeClr val="dk1"/>
                        </a:solidFill>
                        <a:latin typeface="Average"/>
                        <a:ea typeface="Average"/>
                        <a:cs typeface="Average"/>
                        <a:sym typeface="Average"/>
                      </a:endParaRPr>
                    </a:p>
                  </a:txBody>
                  <a:tcPr marT="76200" marB="76200" marR="76200" marL="7620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5"/>
          <p:cNvPicPr preferRelativeResize="0"/>
          <p:nvPr/>
        </p:nvPicPr>
        <p:blipFill rotWithShape="1">
          <a:blip r:embed="rId3">
            <a:alphaModFix/>
          </a:blip>
          <a:srcRect b="0" l="0" r="0" t="0"/>
          <a:stretch/>
        </p:blipFill>
        <p:spPr>
          <a:xfrm>
            <a:off x="2043850" y="1128150"/>
            <a:ext cx="5056301" cy="2887200"/>
          </a:xfrm>
          <a:prstGeom prst="rect">
            <a:avLst/>
          </a:prstGeom>
          <a:noFill/>
          <a:ln>
            <a:noFill/>
          </a:ln>
        </p:spPr>
      </p:pic>
      <p:sp>
        <p:nvSpPr>
          <p:cNvPr id="92" name="Google Shape;92;p5"/>
          <p:cNvSpPr txBox="1"/>
          <p:nvPr/>
        </p:nvSpPr>
        <p:spPr>
          <a:xfrm>
            <a:off x="300350" y="4184850"/>
            <a:ext cx="8717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 u="none" cap="none" strike="noStrike">
                <a:solidFill>
                  <a:srgbClr val="D6D5D4"/>
                </a:solidFill>
                <a:latin typeface="Average"/>
                <a:ea typeface="Average"/>
                <a:cs typeface="Average"/>
                <a:sym typeface="Average"/>
              </a:rPr>
              <a:t>El histograma de Total Amount muestra una alta concentración de compras en montos bajos, especialmente entre 0 y 250, lo que indica que predominan las ventas de bajo valor. </a:t>
            </a:r>
            <a:endParaRPr b="0" i="0" u="none" cap="none" strike="noStrike">
              <a:solidFill>
                <a:schemeClr val="accent3"/>
              </a:solidFill>
              <a:latin typeface="Average"/>
              <a:ea typeface="Average"/>
              <a:cs typeface="Average"/>
              <a:sym typeface="Average"/>
            </a:endParaRPr>
          </a:p>
        </p:txBody>
      </p:sp>
      <p:sp>
        <p:nvSpPr>
          <p:cNvPr id="93" name="Google Shape;93;p5"/>
          <p:cNvSpPr txBox="1"/>
          <p:nvPr/>
        </p:nvSpPr>
        <p:spPr>
          <a:xfrm>
            <a:off x="2551400" y="317125"/>
            <a:ext cx="8589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accent3"/>
                </a:solidFill>
                <a:latin typeface="Oswald"/>
                <a:ea typeface="Oswald"/>
                <a:cs typeface="Oswald"/>
                <a:sym typeface="Oswald"/>
              </a:rPr>
              <a:t>Análisis exploratorio de ventas y precios </a:t>
            </a:r>
            <a:endParaRPr b="0" i="0" sz="1800" u="none" cap="none" strike="noStrike">
              <a:solidFill>
                <a:schemeClr val="accent3"/>
              </a:solidFill>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6"/>
          <p:cNvPicPr preferRelativeResize="0"/>
          <p:nvPr/>
        </p:nvPicPr>
        <p:blipFill rotWithShape="1">
          <a:blip r:embed="rId3">
            <a:alphaModFix/>
          </a:blip>
          <a:srcRect b="0" l="0" r="0" t="0"/>
          <a:stretch/>
        </p:blipFill>
        <p:spPr>
          <a:xfrm>
            <a:off x="2043850" y="778825"/>
            <a:ext cx="5056301" cy="2887200"/>
          </a:xfrm>
          <a:prstGeom prst="rect">
            <a:avLst/>
          </a:prstGeom>
          <a:noFill/>
          <a:ln>
            <a:noFill/>
          </a:ln>
        </p:spPr>
      </p:pic>
      <p:sp>
        <p:nvSpPr>
          <p:cNvPr id="99" name="Google Shape;99;p6"/>
          <p:cNvSpPr txBox="1"/>
          <p:nvPr/>
        </p:nvSpPr>
        <p:spPr>
          <a:xfrm>
            <a:off x="213150" y="3836150"/>
            <a:ext cx="87177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 u="none" cap="none" strike="noStrike">
                <a:solidFill>
                  <a:srgbClr val="D6D5D4"/>
                </a:solidFill>
                <a:latin typeface="Average"/>
                <a:ea typeface="Average"/>
                <a:cs typeface="Average"/>
                <a:sym typeface="Average"/>
              </a:rPr>
              <a:t>Al mismo tiempo, la presencia de pocos montos altos refleja una distribución asimétrica y con alta dispersión. </a:t>
            </a:r>
            <a:endParaRPr b="0" i="0" u="none" cap="none" strike="noStrike">
              <a:solidFill>
                <a:srgbClr val="D6D5D4"/>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300"/>
              <a:buFont typeface="Arial"/>
              <a:buNone/>
            </a:pPr>
            <a:r>
              <a:t/>
            </a:r>
            <a:endParaRPr>
              <a:solidFill>
                <a:srgbClr val="D6D5D4"/>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300"/>
              <a:buFont typeface="Arial"/>
              <a:buNone/>
            </a:pPr>
            <a:r>
              <a:rPr b="0" i="0" lang="es" sz="1500" u="none" cap="none" strike="noStrike">
                <a:solidFill>
                  <a:srgbClr val="D6D5D4"/>
                </a:solidFill>
                <a:latin typeface="Average"/>
                <a:ea typeface="Average"/>
                <a:cs typeface="Average"/>
                <a:sym typeface="Average"/>
              </a:rPr>
              <a:t>Por su parte, el boxplot de Price per Unit evidencia una concentración de precios bajos con una extensión hacia valores mayores, lo que sugiere coexistencia de productos económicos y de mayor valor.</a:t>
            </a:r>
            <a:endParaRPr b="0" i="0" sz="1500" u="none" cap="none" strike="noStrike">
              <a:solidFill>
                <a:schemeClr val="accent3"/>
              </a:solidFill>
              <a:latin typeface="Average"/>
              <a:ea typeface="Average"/>
              <a:cs typeface="Average"/>
              <a:sym typeface="Average"/>
            </a:endParaRPr>
          </a:p>
        </p:txBody>
      </p:sp>
      <p:sp>
        <p:nvSpPr>
          <p:cNvPr id="100" name="Google Shape;100;p6"/>
          <p:cNvSpPr txBox="1"/>
          <p:nvPr/>
        </p:nvSpPr>
        <p:spPr>
          <a:xfrm>
            <a:off x="2551400" y="317125"/>
            <a:ext cx="8589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accent3"/>
                </a:solidFill>
                <a:latin typeface="Oswald"/>
                <a:ea typeface="Oswald"/>
                <a:cs typeface="Oswald"/>
                <a:sym typeface="Oswald"/>
              </a:rPr>
              <a:t>Análisis exploratorio de ventas y precios </a:t>
            </a:r>
            <a:endParaRPr b="0" i="0" sz="1800" u="none" cap="none" strike="noStrike">
              <a:solidFill>
                <a:schemeClr val="accent3"/>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7"/>
          <p:cNvPicPr preferRelativeResize="0"/>
          <p:nvPr/>
        </p:nvPicPr>
        <p:blipFill rotWithShape="1">
          <a:blip r:embed="rId3">
            <a:alphaModFix/>
          </a:blip>
          <a:srcRect b="0" l="0" r="0" t="0"/>
          <a:stretch/>
        </p:blipFill>
        <p:spPr>
          <a:xfrm>
            <a:off x="1916450" y="499225"/>
            <a:ext cx="4804625" cy="3435400"/>
          </a:xfrm>
          <a:prstGeom prst="rect">
            <a:avLst/>
          </a:prstGeom>
          <a:noFill/>
          <a:ln>
            <a:noFill/>
          </a:ln>
        </p:spPr>
      </p:pic>
      <p:sp>
        <p:nvSpPr>
          <p:cNvPr id="106" name="Google Shape;106;p7"/>
          <p:cNvSpPr txBox="1"/>
          <p:nvPr/>
        </p:nvSpPr>
        <p:spPr>
          <a:xfrm>
            <a:off x="2568875" y="114325"/>
            <a:ext cx="8223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s" u="none" cap="none" strike="noStrike">
                <a:solidFill>
                  <a:srgbClr val="D6D5D4"/>
                </a:solidFill>
                <a:latin typeface="Oswald"/>
                <a:ea typeface="Oswald"/>
                <a:cs typeface="Oswald"/>
                <a:sym typeface="Oswald"/>
              </a:rPr>
              <a:t>Relación entre cantidad y monto de venta</a:t>
            </a:r>
            <a:r>
              <a:rPr b="0" i="0" lang="es" sz="1300" u="none" cap="none" strike="noStrike">
                <a:solidFill>
                  <a:srgbClr val="000000"/>
                </a:solidFill>
                <a:latin typeface="Oswald"/>
                <a:ea typeface="Oswald"/>
                <a:cs typeface="Oswald"/>
                <a:sym typeface="Oswald"/>
              </a:rPr>
              <a:t> </a:t>
            </a:r>
            <a:endParaRPr b="0" i="0" sz="2000" u="none" cap="none" strike="noStrike">
              <a:solidFill>
                <a:schemeClr val="accent3"/>
              </a:solidFill>
              <a:latin typeface="Oswald"/>
              <a:ea typeface="Oswald"/>
              <a:cs typeface="Oswald"/>
              <a:sym typeface="Oswald"/>
            </a:endParaRPr>
          </a:p>
        </p:txBody>
      </p:sp>
      <p:sp>
        <p:nvSpPr>
          <p:cNvPr id="107" name="Google Shape;107;p7"/>
          <p:cNvSpPr txBox="1"/>
          <p:nvPr/>
        </p:nvSpPr>
        <p:spPr>
          <a:xfrm>
            <a:off x="494000" y="3934625"/>
            <a:ext cx="8397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6D5D4"/>
                </a:solidFill>
                <a:latin typeface="Georgia"/>
                <a:ea typeface="Georgia"/>
                <a:cs typeface="Georgia"/>
                <a:sym typeface="Georgia"/>
              </a:rPr>
              <a:t>El gráfico muestra que, en general, cuando aumenta la cantidad de productos comprados, también aumenta el monto total de la venta. </a:t>
            </a:r>
            <a:endParaRPr b="0" i="0" sz="1200" u="none" cap="none" strike="noStrike">
              <a:solidFill>
                <a:srgbClr val="D6D5D4"/>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D6D5D4"/>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6D5D4"/>
                </a:solidFill>
                <a:latin typeface="Georgia"/>
                <a:ea typeface="Georgia"/>
                <a:cs typeface="Georgia"/>
                <a:sym typeface="Georgia"/>
              </a:rPr>
              <a:t>Sin embargo, esta relación no es completamente uniforme, ya que para una misma cantidad aparecen montos diferentes, lo que indica que el precio unitario también influye de forma importante en el valor final de cada transacción.</a:t>
            </a:r>
            <a:r>
              <a:rPr b="0" i="0" lang="es" sz="1100" u="none" cap="none" strike="noStrike">
                <a:solidFill>
                  <a:srgbClr val="000000"/>
                </a:solidFill>
                <a:latin typeface="Arial"/>
                <a:ea typeface="Arial"/>
                <a:cs typeface="Arial"/>
                <a:sym typeface="Arial"/>
              </a:rPr>
              <a:t> </a:t>
            </a:r>
            <a:endParaRPr b="0" i="0" sz="1800" u="none" cap="none" strike="noStrike">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8"/>
          <p:cNvPicPr preferRelativeResize="0"/>
          <p:nvPr/>
        </p:nvPicPr>
        <p:blipFill rotWithShape="1">
          <a:blip r:embed="rId3">
            <a:alphaModFix/>
          </a:blip>
          <a:srcRect b="0" l="0" r="0" t="0"/>
          <a:stretch/>
        </p:blipFill>
        <p:spPr>
          <a:xfrm>
            <a:off x="1933850" y="485550"/>
            <a:ext cx="4804625" cy="3435400"/>
          </a:xfrm>
          <a:prstGeom prst="rect">
            <a:avLst/>
          </a:prstGeom>
          <a:noFill/>
          <a:ln>
            <a:noFill/>
          </a:ln>
        </p:spPr>
      </p:pic>
      <p:sp>
        <p:nvSpPr>
          <p:cNvPr id="113" name="Google Shape;113;p8"/>
          <p:cNvSpPr txBox="1"/>
          <p:nvPr/>
        </p:nvSpPr>
        <p:spPr>
          <a:xfrm>
            <a:off x="2778125" y="116250"/>
            <a:ext cx="8223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s" sz="1200" u="none" cap="none" strike="noStrike">
                <a:solidFill>
                  <a:srgbClr val="D6D5D4"/>
                </a:solidFill>
                <a:latin typeface="Oswald"/>
                <a:ea typeface="Oswald"/>
                <a:cs typeface="Oswald"/>
                <a:sym typeface="Oswald"/>
              </a:rPr>
              <a:t>Relación entre cantidad y monto de venta</a:t>
            </a:r>
            <a:r>
              <a:rPr b="0" i="0" lang="es" sz="1100" u="none" cap="none" strike="noStrike">
                <a:solidFill>
                  <a:srgbClr val="000000"/>
                </a:solidFill>
                <a:latin typeface="Oswald"/>
                <a:ea typeface="Oswald"/>
                <a:cs typeface="Oswald"/>
                <a:sym typeface="Oswald"/>
              </a:rPr>
              <a:t> </a:t>
            </a:r>
            <a:endParaRPr b="0" i="0" sz="1800" u="none" cap="none" strike="noStrike">
              <a:solidFill>
                <a:schemeClr val="accent3"/>
              </a:solidFill>
              <a:latin typeface="Oswald"/>
              <a:ea typeface="Oswald"/>
              <a:cs typeface="Oswald"/>
              <a:sym typeface="Oswald"/>
            </a:endParaRPr>
          </a:p>
        </p:txBody>
      </p:sp>
      <p:sp>
        <p:nvSpPr>
          <p:cNvPr id="114" name="Google Shape;114;p8"/>
          <p:cNvSpPr txBox="1"/>
          <p:nvPr/>
        </p:nvSpPr>
        <p:spPr>
          <a:xfrm>
            <a:off x="581200" y="3920950"/>
            <a:ext cx="81888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6D5D4"/>
                </a:solidFill>
                <a:latin typeface="Georgia"/>
                <a:ea typeface="Georgia"/>
                <a:cs typeface="Georgia"/>
                <a:sym typeface="Georgia"/>
              </a:rPr>
              <a:t>Desde una mirada comercial, esto sugiere que el negocio realiza principalmente ventas pequeñas, pero algunas compras de mayor valor ayudan a elevar la facturación total. </a:t>
            </a:r>
            <a:endParaRPr b="0" i="0" sz="1200" u="none" cap="none" strike="noStrike">
              <a:solidFill>
                <a:srgbClr val="D6D5D4"/>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D6D5D4"/>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6D5D4"/>
                </a:solidFill>
                <a:latin typeface="Georgia"/>
                <a:ea typeface="Georgia"/>
                <a:cs typeface="Georgia"/>
                <a:sym typeface="Georgia"/>
              </a:rPr>
              <a:t>En otras palabras, no solo importa vender más unidades, sino también qué tipo de productos se venden  y cuánto hacen crecer el monto de cada venta.</a:t>
            </a:r>
            <a:r>
              <a:rPr b="0" i="0" lang="es" sz="1100" u="none" cap="none" strike="noStrike">
                <a:solidFill>
                  <a:srgbClr val="000000"/>
                </a:solidFill>
                <a:latin typeface="Arial"/>
                <a:ea typeface="Arial"/>
                <a:cs typeface="Arial"/>
                <a:sym typeface="Arial"/>
              </a:rPr>
              <a:t> </a:t>
            </a:r>
            <a:endParaRPr b="0" i="0" sz="1800" u="none" cap="none" strike="noStrike">
              <a:solidFill>
                <a:schemeClr val="accent3"/>
              </a:solidFill>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9"/>
          <p:cNvPicPr preferRelativeResize="0"/>
          <p:nvPr/>
        </p:nvPicPr>
        <p:blipFill rotWithShape="1">
          <a:blip r:embed="rId3">
            <a:alphaModFix/>
          </a:blip>
          <a:srcRect b="0" l="0" r="0" t="0"/>
          <a:stretch/>
        </p:blipFill>
        <p:spPr>
          <a:xfrm>
            <a:off x="2108425" y="601625"/>
            <a:ext cx="4927151" cy="3591526"/>
          </a:xfrm>
          <a:prstGeom prst="rect">
            <a:avLst/>
          </a:prstGeom>
          <a:noFill/>
          <a:ln>
            <a:noFill/>
          </a:ln>
        </p:spPr>
      </p:pic>
      <p:sp>
        <p:nvSpPr>
          <p:cNvPr id="120" name="Google Shape;120;p9"/>
          <p:cNvSpPr txBox="1"/>
          <p:nvPr/>
        </p:nvSpPr>
        <p:spPr>
          <a:xfrm>
            <a:off x="2638575" y="35325"/>
            <a:ext cx="7578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i="0" lang="es" sz="1800" u="none" cap="none" strike="noStrike">
                <a:solidFill>
                  <a:schemeClr val="accent3"/>
                </a:solidFill>
                <a:latin typeface="Oswald"/>
                <a:ea typeface="Oswald"/>
                <a:cs typeface="Oswald"/>
                <a:sym typeface="Oswald"/>
              </a:rPr>
              <a:t>Tendencia de ventas en el tiempo </a:t>
            </a:r>
            <a:endParaRPr i="0" sz="1800" u="none" cap="none" strike="noStrike">
              <a:solidFill>
                <a:schemeClr val="accent3"/>
              </a:solidFill>
              <a:latin typeface="Oswald"/>
              <a:ea typeface="Oswald"/>
              <a:cs typeface="Oswald"/>
              <a:sym typeface="Oswald"/>
            </a:endParaRPr>
          </a:p>
        </p:txBody>
      </p:sp>
      <p:sp>
        <p:nvSpPr>
          <p:cNvPr id="121" name="Google Shape;121;p9"/>
          <p:cNvSpPr txBox="1"/>
          <p:nvPr/>
        </p:nvSpPr>
        <p:spPr>
          <a:xfrm>
            <a:off x="553950" y="4297750"/>
            <a:ext cx="8380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6D5D4"/>
                </a:solidFill>
                <a:latin typeface="Georgia"/>
                <a:ea typeface="Georgia"/>
                <a:cs typeface="Georgia"/>
                <a:sym typeface="Georgia"/>
              </a:rPr>
              <a:t>Este gráfico muestra que las ventas cambian de un mes a otro y no se mantienen iguales durante todo el año. Hay meses en que el negocio vende más, como el mes 5, y otros en que vende menos, como el mes 9, lo que indica que existen periodos más fuertes y otros más débiles.</a:t>
            </a:r>
            <a:r>
              <a:rPr b="0" i="0" lang="es" sz="1100" u="none" cap="none" strike="noStrike">
                <a:solidFill>
                  <a:srgbClr val="000000"/>
                </a:solidFill>
                <a:latin typeface="Arial"/>
                <a:ea typeface="Arial"/>
                <a:cs typeface="Arial"/>
                <a:sym typeface="Arial"/>
              </a:rPr>
              <a:t> </a:t>
            </a:r>
            <a:endParaRPr b="0" i="0" sz="1800" u="none" cap="none" strike="noStrike">
              <a:solidFill>
                <a:schemeClr val="accent3"/>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0"/>
          <p:cNvPicPr preferRelativeResize="0"/>
          <p:nvPr/>
        </p:nvPicPr>
        <p:blipFill rotWithShape="1">
          <a:blip r:embed="rId3">
            <a:alphaModFix/>
          </a:blip>
          <a:srcRect b="0" l="0" r="0" t="0"/>
          <a:stretch/>
        </p:blipFill>
        <p:spPr>
          <a:xfrm>
            <a:off x="2108425" y="392375"/>
            <a:ext cx="4927151" cy="3591526"/>
          </a:xfrm>
          <a:prstGeom prst="rect">
            <a:avLst/>
          </a:prstGeom>
          <a:noFill/>
          <a:ln>
            <a:noFill/>
          </a:ln>
        </p:spPr>
      </p:pic>
      <p:sp>
        <p:nvSpPr>
          <p:cNvPr id="127" name="Google Shape;127;p10"/>
          <p:cNvSpPr txBox="1"/>
          <p:nvPr/>
        </p:nvSpPr>
        <p:spPr>
          <a:xfrm>
            <a:off x="3144200" y="23075"/>
            <a:ext cx="7578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s" sz="1200" u="none" cap="none" strike="noStrike">
                <a:solidFill>
                  <a:srgbClr val="D6D5D4"/>
                </a:solidFill>
                <a:latin typeface="Oswald"/>
                <a:ea typeface="Oswald"/>
                <a:cs typeface="Oswald"/>
                <a:sym typeface="Oswald"/>
              </a:rPr>
              <a:t>Qué significa para el negocio</a:t>
            </a:r>
            <a:r>
              <a:rPr b="0" i="0" lang="es" sz="1100" u="none" cap="none" strike="noStrike">
                <a:solidFill>
                  <a:srgbClr val="000000"/>
                </a:solidFill>
                <a:latin typeface="Oswald"/>
                <a:ea typeface="Oswald"/>
                <a:cs typeface="Oswald"/>
                <a:sym typeface="Oswald"/>
              </a:rPr>
              <a:t> </a:t>
            </a:r>
            <a:endParaRPr b="0" i="0" sz="1800" u="none" cap="none" strike="noStrike">
              <a:solidFill>
                <a:schemeClr val="accent3"/>
              </a:solidFill>
              <a:latin typeface="Oswald"/>
              <a:ea typeface="Oswald"/>
              <a:cs typeface="Oswald"/>
              <a:sym typeface="Oswald"/>
            </a:endParaRPr>
          </a:p>
        </p:txBody>
      </p:sp>
      <p:sp>
        <p:nvSpPr>
          <p:cNvPr id="128" name="Google Shape;128;p10"/>
          <p:cNvSpPr txBox="1"/>
          <p:nvPr/>
        </p:nvSpPr>
        <p:spPr>
          <a:xfrm>
            <a:off x="553950" y="4158275"/>
            <a:ext cx="83808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300" u="none" cap="none" strike="noStrike">
                <a:solidFill>
                  <a:srgbClr val="D6D5D4"/>
                </a:solidFill>
                <a:latin typeface="Georgia"/>
                <a:ea typeface="Georgia"/>
                <a:cs typeface="Georgia"/>
                <a:sym typeface="Georgia"/>
              </a:rPr>
              <a:t>En términos simples, este comportamiento muestra que el negocio no vende lo mismo todos los meses. Por eso, identificar los meses buenos y los meses bajos ayuda a prepararse mejor, organizar el inventario y planificar promociones o acciones comerciales en los momentos en que más se necesitan</a:t>
            </a:r>
            <a:r>
              <a:rPr b="0" i="0" lang="es" sz="1200" u="none" cap="none" strike="noStrike">
                <a:solidFill>
                  <a:srgbClr val="000000"/>
                </a:solidFill>
                <a:latin typeface="Arial"/>
                <a:ea typeface="Arial"/>
                <a:cs typeface="Arial"/>
                <a:sym typeface="Arial"/>
              </a:rPr>
              <a:t> </a:t>
            </a:r>
            <a:endParaRPr b="0" i="0" sz="1900" u="none" cap="none" strike="noStrike">
              <a:solidFill>
                <a:schemeClr val="accent3"/>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e26a2c091a_0_12"/>
          <p:cNvSpPr txBox="1"/>
          <p:nvPr>
            <p:ph type="title"/>
          </p:nvPr>
        </p:nvSpPr>
        <p:spPr>
          <a:xfrm>
            <a:off x="-2428950" y="76730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s" sz="2200">
                <a:solidFill>
                  <a:srgbClr val="D6D5D4"/>
                </a:solidFill>
              </a:rPr>
              <a:t>Conclusiones</a:t>
            </a:r>
            <a:r>
              <a:rPr lang="es" sz="2100">
                <a:solidFill>
                  <a:srgbClr val="000000"/>
                </a:solidFill>
              </a:rPr>
              <a:t> </a:t>
            </a:r>
            <a:endParaRPr sz="4600"/>
          </a:p>
        </p:txBody>
      </p:sp>
      <p:sp>
        <p:nvSpPr>
          <p:cNvPr id="134" name="Google Shape;134;g3e26a2c091a_0_12"/>
          <p:cNvSpPr txBox="1"/>
          <p:nvPr/>
        </p:nvSpPr>
        <p:spPr>
          <a:xfrm>
            <a:off x="706925" y="1554800"/>
            <a:ext cx="7374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200">
                <a:solidFill>
                  <a:srgbClr val="D6D5D4"/>
                </a:solidFill>
                <a:latin typeface="Georgia"/>
                <a:ea typeface="Georgia"/>
                <a:cs typeface="Georgia"/>
                <a:sym typeface="Georgia"/>
              </a:rPr>
              <a:t>El análisis exploratorio y las visualizaciones muestran que las ventas se concentran principalmente en montos bajos, que el precio unitario presenta una dispersión importante y que influye de forma relevante en el monto total de cada transacción. </a:t>
            </a:r>
            <a:endParaRPr sz="1200">
              <a:solidFill>
                <a:srgbClr val="D6D5D4"/>
              </a:solidFill>
              <a:latin typeface="Georgia"/>
              <a:ea typeface="Georgia"/>
              <a:cs typeface="Georgia"/>
              <a:sym typeface="Georgia"/>
            </a:endParaRPr>
          </a:p>
          <a:p>
            <a:pPr indent="0" lvl="0" marL="0" rtl="0" algn="l">
              <a:spcBef>
                <a:spcPts val="0"/>
              </a:spcBef>
              <a:spcAft>
                <a:spcPts val="0"/>
              </a:spcAft>
              <a:buNone/>
            </a:pPr>
            <a:r>
              <a:t/>
            </a:r>
            <a:endParaRPr sz="1200">
              <a:solidFill>
                <a:srgbClr val="D6D5D4"/>
              </a:solidFill>
              <a:latin typeface="Georgia"/>
              <a:ea typeface="Georgia"/>
              <a:cs typeface="Georgia"/>
              <a:sym typeface="Georgia"/>
            </a:endParaRPr>
          </a:p>
          <a:p>
            <a:pPr indent="0" lvl="0" marL="0" rtl="0" algn="just">
              <a:spcBef>
                <a:spcPts val="0"/>
              </a:spcBef>
              <a:spcAft>
                <a:spcPts val="0"/>
              </a:spcAft>
              <a:buNone/>
            </a:pPr>
            <a:r>
              <a:rPr lang="es" sz="1200">
                <a:solidFill>
                  <a:srgbClr val="D6D5D4"/>
                </a:solidFill>
                <a:latin typeface="Georgia"/>
                <a:ea typeface="Georgia"/>
                <a:cs typeface="Georgia"/>
                <a:sym typeface="Georgia"/>
              </a:rPr>
              <a:t>Además, se observó variación en las ventas mensuales, lo que sugiere oportunidades para fortalecer promociones en periodos más débiles y mejorar la planificación de inventario según los cambios en la demanda.</a:t>
            </a:r>
            <a:r>
              <a:rPr lang="es" sz="1100"/>
              <a:t> </a:t>
            </a:r>
            <a:endParaRPr sz="1800">
              <a:solidFill>
                <a:schemeClr val="accent3"/>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26a2c091a_0_35"/>
          <p:cNvSpPr txBox="1"/>
          <p:nvPr>
            <p:ph type="title"/>
          </p:nvPr>
        </p:nvSpPr>
        <p:spPr>
          <a:xfrm>
            <a:off x="-1970950" y="8025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3200"/>
              <a:t>Recomendaciones</a:t>
            </a:r>
            <a:endParaRPr sz="3200"/>
          </a:p>
        </p:txBody>
      </p:sp>
      <p:sp>
        <p:nvSpPr>
          <p:cNvPr id="140" name="Google Shape;140;g3e26a2c091a_0_35"/>
          <p:cNvSpPr txBox="1"/>
          <p:nvPr/>
        </p:nvSpPr>
        <p:spPr>
          <a:xfrm>
            <a:off x="534275" y="1663550"/>
            <a:ext cx="7045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D6D5D4"/>
                </a:solidFill>
                <a:latin typeface="Georgia"/>
                <a:ea typeface="Georgia"/>
                <a:cs typeface="Georgia"/>
                <a:sym typeface="Georgia"/>
              </a:rPr>
              <a:t>Los resultados sugieren que existe una oportunidad para mejorar la facturación aumentando el valor promedio de las compras y prestando atención a las transacciones asociadas a precios más altos.</a:t>
            </a:r>
            <a:endParaRPr sz="1200">
              <a:solidFill>
                <a:srgbClr val="D6D5D4"/>
              </a:solidFill>
              <a:latin typeface="Georgia"/>
              <a:ea typeface="Georgia"/>
              <a:cs typeface="Georgia"/>
              <a:sym typeface="Georgia"/>
            </a:endParaRPr>
          </a:p>
          <a:p>
            <a:pPr indent="0" lvl="0" marL="0" rtl="0" algn="l">
              <a:spcBef>
                <a:spcPts val="0"/>
              </a:spcBef>
              <a:spcAft>
                <a:spcPts val="0"/>
              </a:spcAft>
              <a:buNone/>
            </a:pPr>
            <a:r>
              <a:t/>
            </a:r>
            <a:endParaRPr sz="1200">
              <a:solidFill>
                <a:srgbClr val="D6D5D4"/>
              </a:solidFill>
              <a:latin typeface="Georgia"/>
              <a:ea typeface="Georgia"/>
              <a:cs typeface="Georgia"/>
              <a:sym typeface="Georgia"/>
            </a:endParaRPr>
          </a:p>
          <a:p>
            <a:pPr indent="0" lvl="0" marL="0" rtl="0" algn="l">
              <a:spcBef>
                <a:spcPts val="0"/>
              </a:spcBef>
              <a:spcAft>
                <a:spcPts val="0"/>
              </a:spcAft>
              <a:buNone/>
            </a:pPr>
            <a:r>
              <a:rPr lang="es" sz="1200">
                <a:solidFill>
                  <a:srgbClr val="D6D5D4"/>
                </a:solidFill>
                <a:latin typeface="Georgia"/>
                <a:ea typeface="Georgia"/>
                <a:cs typeface="Georgia"/>
                <a:sym typeface="Georgia"/>
              </a:rPr>
              <a:t> Al mismo tiempo, la variación mensual observada hace recomendable ajustar el inventario y las acciones comerciales según el comportamiento de la demanda en cada periodo.</a:t>
            </a:r>
            <a:r>
              <a:rPr lang="es" sz="1100"/>
              <a:t> </a:t>
            </a:r>
            <a:endParaRPr sz="1800">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